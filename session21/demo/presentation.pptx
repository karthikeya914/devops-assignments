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OPSPULSE PLATFORM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Cloud Incident &amp; Reliability Engineering Platform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DevOps Final Capstone Project (Session 21) • 100-Point Architecture Walkthrough</a:t>
            </a:r>
          </a:p>
          <a:p>
            <a:br/>
            <a:pPr>
              <a:defRPr sz="1400">
                <a:solidFill>
                  <a:srgbClr val="3B82F6"/>
                </a:solidFill>
              </a:defRPr>
            </a:pPr>
            <a:r>
              <a:t>Presenter: Karthikeya   |   Repository: github.com/Karthikeya914/devops-assignments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M1 — 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1: Full-Stack Polyglot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FastAPI Backend: </a:t>
            </a:r>
            <a:r>
              <a:rPr b="0" sz="1300">
                <a:solidFill>
                  <a:srgbClr val="F8FAFC"/>
                </a:solidFill>
              </a:rPr>
              <a:t>High-performance Python asynchronous REST API exposing /health, /ready, and incident CRUD endpoints.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React + Vite Frontend: </a:t>
            </a:r>
            <a:r>
              <a:rPr b="0" sz="1300">
                <a:solidFill>
                  <a:srgbClr val="F8FAFC"/>
                </a:solidFill>
              </a:rPr>
              <a:t>Interactive single-page application with real-time KPI metrics, incident status filters, and dark mode UI.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PostgreSQL Database: </a:t>
            </a:r>
            <a:r>
              <a:rPr b="0" sz="1300">
                <a:solidFill>
                  <a:srgbClr val="F8FAFC"/>
                </a:solidFill>
              </a:rPr>
              <a:t>Managed relational storage with schema migrations version-controlled via Alembic.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Local Orchestration: </a:t>
            </a:r>
            <a:r>
              <a:rPr b="0" sz="1300">
                <a:solidFill>
                  <a:srgbClr val="F8FAFC"/>
                </a:solidFill>
              </a:rPr>
              <a:t>Single-command bootstrapping with Docker Compose connecting backend, frontend, and database.</a:t>
            </a:r>
          </a:p>
        </p:txBody>
      </p:sp>
      <p:pic>
        <p:nvPicPr>
          <p:cNvPr id="5" name="Picture 4" descr="01_app_dashboard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M2 — AUTOMATED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2: Automated Testing &amp;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Pytest Suite: </a:t>
            </a:r>
            <a:r>
              <a:rPr b="0" sz="1300">
                <a:solidFill>
                  <a:srgbClr val="F8FAFC"/>
                </a:solidFill>
              </a:rPr>
              <a:t>10 comprehensive automated test cases covering health probes, root info, CRUD operations, and error handling.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Isolated Test Database: </a:t>
            </a:r>
            <a:r>
              <a:rPr b="0" sz="1300">
                <a:solidFill>
                  <a:srgbClr val="F8FAFC"/>
                </a:solidFill>
              </a:rPr>
              <a:t>In-memory SQLite fixtures ensure tests never touch or mutate production database state.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Quality Gate Enforcement: </a:t>
            </a:r>
            <a:r>
              <a:rPr b="0" sz="1300">
                <a:solidFill>
                  <a:srgbClr val="F8FAFC"/>
                </a:solidFill>
              </a:rPr>
              <a:t>100% test pass rate executed in 0.12s before code can be packaged or deployed.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Clean Configuration: </a:t>
            </a:r>
            <a:r>
              <a:rPr b="0" sz="1300">
                <a:solidFill>
                  <a:srgbClr val="F8FAFC"/>
                </a:solidFill>
              </a:rPr>
              <a:t>Standardized pytest.ini and conftest.py fixtures for reproducible execution.</a:t>
            </a:r>
          </a:p>
        </p:txBody>
      </p:sp>
      <p:pic>
        <p:nvPicPr>
          <p:cNvPr id="5" name="Picture 4" descr="03_pytest_automated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M4 — 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4: Multi-Stage Docker Containerization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Multi-Stage Builds: </a:t>
            </a:r>
            <a:r>
              <a:rPr b="0" sz="1300">
                <a:solidFill>
                  <a:srgbClr val="F8FAFC"/>
                </a:solidFill>
              </a:rPr>
              <a:t>Frontend uses Node 20 builder stripped down to an ultra-lightweight Nginx Alpine runtime image.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Non-Root Security: </a:t>
            </a:r>
            <a:r>
              <a:rPr b="0" sz="1300">
                <a:solidFill>
                  <a:srgbClr val="F8FAFC"/>
                </a:solidFill>
              </a:rPr>
              <a:t>Both backend and frontend containers run under unprivileged user 'appuser' (UID 10001).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Optimized Image Sizes: </a:t>
            </a:r>
            <a:r>
              <a:rPr b="0" sz="1300">
                <a:solidFill>
                  <a:srgbClr val="F8FAFC"/>
                </a:solidFill>
              </a:rPr>
              <a:t>Backend is 196MB and Frontend is 28MB, minimizing attack surface and pull latency.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Docker Compose: </a:t>
            </a:r>
            <a:r>
              <a:rPr b="0" sz="1300">
                <a:solidFill>
                  <a:srgbClr val="F8FAFC"/>
                </a:solidFill>
              </a:rPr>
              <a:t>Orchestrates multi-container networking with internal DNS resolution and persistent volumes.</a:t>
            </a:r>
          </a:p>
        </p:txBody>
      </p:sp>
      <p:pic>
        <p:nvPicPr>
          <p:cNvPr id="5" name="Picture 4" descr="04_docker_compose_and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M5 — CONTINUOUS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5: Automated CI/CD with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Triggers on Push: </a:t>
            </a:r>
            <a:r>
              <a:rPr b="0" sz="1300">
                <a:solidFill>
                  <a:srgbClr val="F8FAFC"/>
                </a:solidFill>
              </a:rPr>
              <a:t>Automated pipeline triggers on every commit to main branch preventing untested code deployment.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Automated Pipeline Stages: </a:t>
            </a:r>
            <a:r>
              <a:rPr b="0" sz="1300">
                <a:solidFill>
                  <a:srgbClr val="F8FAFC"/>
                </a:solidFill>
              </a:rPr>
              <a:t>Job 1 runs Pytest suite. Job 2 compiles frontend and builds multi-stage Docker images.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GitHub Container Registry: </a:t>
            </a:r>
            <a:r>
              <a:rPr b="0" sz="1300">
                <a:solidFill>
                  <a:srgbClr val="F8FAFC"/>
                </a:solidFill>
              </a:rPr>
              <a:t>Images published to ghcr.io/karthikeya914 tagged immutably with Git commit SHA.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Zero Manual Intervention: </a:t>
            </a:r>
            <a:r>
              <a:rPr b="0" sz="1300">
                <a:solidFill>
                  <a:srgbClr val="F8FAFC"/>
                </a:solidFill>
              </a:rPr>
              <a:t>100% hands-free release packaging with automated secrets management.</a:t>
            </a:r>
          </a:p>
        </p:txBody>
      </p:sp>
      <p:pic>
        <p:nvPicPr>
          <p:cNvPr id="5" name="Picture 4" descr="06_github_actions_pipeline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M6 — SECURITY GATING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6: DevSecOps &amp; Security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Automated Trivy Scanning: </a:t>
            </a:r>
            <a:r>
              <a:rPr b="0" sz="1300">
                <a:solidFill>
                  <a:srgbClr val="F8FAFC"/>
                </a:solidFill>
              </a:rPr>
              <a:t>Scans both backend and frontend container images for known CVE vulnerabilities in CI.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Severity Gating: </a:t>
            </a:r>
            <a:r>
              <a:rPr b="0" sz="1300">
                <a:solidFill>
                  <a:srgbClr val="F8FAFC"/>
                </a:solidFill>
              </a:rPr>
              <a:t>Configured to fail pipelines on CRITICAL or HIGH severity security flaws.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Zero-Vulnerability Baseline: </a:t>
            </a:r>
            <a:r>
              <a:rPr b="0" sz="1300">
                <a:solidFill>
                  <a:srgbClr val="F8FAFC"/>
                </a:solidFill>
              </a:rPr>
              <a:t>Multi-stage alpine base images eliminate package bloat, achieving 0 vulnerabilities.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Secret Defense: </a:t>
            </a:r>
            <a:r>
              <a:rPr b="0" sz="1300">
                <a:solidFill>
                  <a:srgbClr val="F8FAFC"/>
                </a:solidFill>
              </a:rPr>
              <a:t>Rigorous .gitignore hygiene ensures no API keys, credentials, or .env files enter version control.</a:t>
            </a:r>
          </a:p>
        </p:txBody>
      </p:sp>
      <p:pic>
        <p:nvPicPr>
          <p:cNvPr id="5" name="Picture 4" descr="09_trivy_security_scan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M7 — CLOUD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7: Infrastructure as Code on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Modular Terraform HCL: </a:t>
            </a:r>
            <a:r>
              <a:rPr b="0" sz="1300">
                <a:solidFill>
                  <a:srgbClr val="F8FAFC"/>
                </a:solidFill>
              </a:rPr>
              <a:t>Declares dedicated AWS VPC (10.0.0.0/16) and managed EKS cluster in ap-south-1 (Mumbai).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High Availability: </a:t>
            </a:r>
            <a:r>
              <a:rPr b="0" sz="1300">
                <a:solidFill>
                  <a:srgbClr val="F8FAFC"/>
                </a:solidFill>
              </a:rPr>
              <a:t>Spans 2 Availability Zones with public subnets, private subnets, and NAT Gateway egress.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Live AWS Verification: </a:t>
            </a:r>
            <a:r>
              <a:rPr b="0" sz="1300">
                <a:solidFill>
                  <a:srgbClr val="F8FAFC"/>
                </a:solidFill>
              </a:rPr>
              <a:t>EKS cluster 'opspulse-eks' and VPC 'opspulse-eks-vpc' verified active in AWS Console.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Clean Teardown: </a:t>
            </a:r>
            <a:r>
              <a:rPr b="0" sz="1300">
                <a:solidFill>
                  <a:srgbClr val="F8FAFC"/>
                </a:solidFill>
              </a:rPr>
              <a:t>Automated 'terraform destroy' confirmed all 57 cloud resources cleanly deleted with zero runaway costs.</a:t>
            </a:r>
          </a:p>
        </p:txBody>
      </p:sp>
      <p:pic>
        <p:nvPicPr>
          <p:cNvPr id="5" name="Picture 4" descr="14_aws_console_eks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M8 — ORCHESTRATION &amp; 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8: Kubernetes &amp; Helm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Helm Chart Architecture: </a:t>
            </a:r>
            <a:r>
              <a:rPr b="0" sz="1300">
                <a:solidFill>
                  <a:srgbClr val="F8FAFC"/>
                </a:solidFill>
              </a:rPr>
              <a:t>Parameterized chart in helm/opspulse managing Deployments, Services, Ingress, and HPA.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High Availability: </a:t>
            </a:r>
            <a:r>
              <a:rPr b="0" sz="1300">
                <a:solidFill>
                  <a:srgbClr val="F8FAFC"/>
                </a:solidFill>
              </a:rPr>
              <a:t>Dual-replica backend and frontend deployments guaranteeing zero downtime during rolling updates.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Health Probes: </a:t>
            </a:r>
            <a:r>
              <a:rPr b="0" sz="1300">
                <a:solidFill>
                  <a:srgbClr val="F8FAFC"/>
                </a:solidFill>
              </a:rPr>
              <a:t>Configured livenessProbe (/health) and readinessProbe (/ready) for automatic pod self-healing.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Ingress Routing: </a:t>
            </a:r>
            <a:r>
              <a:rPr b="0" sz="1300">
                <a:solidFill>
                  <a:srgbClr val="F8FAFC"/>
                </a:solidFill>
              </a:rPr>
              <a:t>Nginx Ingress controller routes external traffic to frontend (/) and API requests to backend (/api).</a:t>
            </a:r>
          </a:p>
        </p:txBody>
      </p:sp>
      <p:pic>
        <p:nvPicPr>
          <p:cNvPr id="5" name="Picture 4" descr="11_k8s_running_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M9 — MONITORING &amp;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9: Observability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Prometheus Telemetry: </a:t>
            </a:r>
            <a:r>
              <a:rPr b="0" sz="1300">
                <a:solidFill>
                  <a:srgbClr val="F8FAFC"/>
                </a:solidFill>
              </a:rPr>
              <a:t>Backend exports real-time HTTP metrics, status counters, and incident telemetry on /metrics.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Prometheus Scraping: </a:t>
            </a:r>
            <a:r>
              <a:rPr b="0" sz="1300">
                <a:solidFill>
                  <a:srgbClr val="F8FAFC"/>
                </a:solidFill>
              </a:rPr>
              <a:t>Configured scrape targets and Helm values for automated metrics collection.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Grafana Visualizations: </a:t>
            </a:r>
            <a:r>
              <a:rPr b="0" sz="1300">
                <a:solidFill>
                  <a:srgbClr val="F8FAFC"/>
                </a:solidFill>
              </a:rPr>
              <a:t>Live dashboards monitoring request rates, p95 latency, error spikes, and active incident volume.</a:t>
            </a:r>
          </a:p>
          <a:p>
            <a:pPr>
              <a:spcAft>
                <a:spcPts val="1400"/>
              </a:spcAft>
              <a:defRPr b="1" sz="1400">
                <a:solidFill>
                  <a:srgbClr val="06B6D4"/>
                </a:solidFill>
              </a:defRPr>
            </a:pPr>
            <a:r>
              <a:t>• Proactive Alerting: </a:t>
            </a:r>
            <a:r>
              <a:rPr b="0" sz="1300">
                <a:solidFill>
                  <a:srgbClr val="F8FAFC"/>
                </a:solidFill>
              </a:rPr>
              <a:t>Preconfigured alert rules for high error rates and database pool exhaustion.</a:t>
            </a:r>
          </a:p>
        </p:txBody>
      </p:sp>
      <p:pic>
        <p:nvPicPr>
          <p:cNvPr id="5" name="Picture 4" descr="10_prometheus_metrics_end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M10 — RETROSPECTIVE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10: Key Learnings &amp; Engineering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1500">
                <a:solidFill>
                  <a:srgbClr val="06B6D4"/>
                </a:solidFill>
              </a:defRPr>
            </a:pPr>
            <a:r>
              <a:t>1. Shift-Left Security Works: </a:t>
            </a:r>
            <a:r>
              <a:rPr b="0" sz="1400">
                <a:solidFill>
                  <a:srgbClr val="F8FAFC"/>
                </a:solidFill>
              </a:rPr>
              <a:t>Integrating Trivy container scans into GitHub Actions eliminates CVEs before deployment.</a:t>
            </a:r>
          </a:p>
          <a:p>
            <a:pPr>
              <a:spcAft>
                <a:spcPts val="1600"/>
              </a:spcAft>
              <a:defRPr b="1" sz="1500">
                <a:solidFill>
                  <a:srgbClr val="06B6D4"/>
                </a:solidFill>
              </a:defRPr>
            </a:pPr>
            <a:r>
              <a:t>2. Infrastructure as Code is Reproducible: </a:t>
            </a:r>
            <a:r>
              <a:rPr b="0" sz="1400">
                <a:solidFill>
                  <a:srgbClr val="F8FAFC"/>
                </a:solidFill>
              </a:rPr>
              <a:t>Terraform allows provisioning and tearing down a complete AWS VPC &amp; EKS environment in minutes.</a:t>
            </a:r>
          </a:p>
          <a:p>
            <a:pPr>
              <a:spcAft>
                <a:spcPts val="1600"/>
              </a:spcAft>
              <a:defRPr b="1" sz="1500">
                <a:solidFill>
                  <a:srgbClr val="06B6D4"/>
                </a:solidFill>
              </a:defRPr>
            </a:pPr>
            <a:r>
              <a:t>3. Observability vs Monitoring: </a:t>
            </a:r>
            <a:r>
              <a:rPr b="0" sz="1400">
                <a:solidFill>
                  <a:srgbClr val="F8FAFC"/>
                </a:solidFill>
              </a:rPr>
              <a:t>Exposing rich Prometheus metrics and readiness probes enables Kubernetes to make intelligent routing decisions and self-heal failed pods.</a:t>
            </a:r>
          </a:p>
          <a:p>
            <a:pPr>
              <a:spcAft>
                <a:spcPts val="1600"/>
              </a:spcAft>
              <a:defRPr b="1" sz="1500">
                <a:solidFill>
                  <a:srgbClr val="06B6D4"/>
                </a:solidFill>
              </a:defRPr>
            </a:pPr>
            <a:r>
              <a:t>4. Immutable GitOps Releases: </a:t>
            </a:r>
            <a:r>
              <a:rPr b="0" sz="1400">
                <a:solidFill>
                  <a:srgbClr val="F8FAFC"/>
                </a:solidFill>
              </a:rPr>
              <a:t>Tagging images with Git commit SHAs and reconciling cluster state via Helm charts creates a fully auditable production deployment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